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4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3389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457200"/>
            <a:ext cx="4114800" cy="4114800"/>
          </a:xfrm>
          <a:prstGeom prst="ellipse">
            <a:avLst/>
          </a:prstGeom>
          <a:solidFill>
            <a:srgbClr val="00D4AA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Markets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BTC Direction Prediction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4114800" cy="1005840"/>
          </a:xfrm>
          <a:prstGeom prst="rect">
            <a:avLst/>
          </a:prstGeom>
          <a:solidFill>
            <a:srgbClr val="00D4AA">
              <a:alpha val="15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7889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4AA"/>
                </a:solidFill>
              </a:rPr>
              <a:t>95%</a:t>
            </a:r>
            <a:r>
              <a:rPr lang="en-US" sz="1600" dirty="0">
                <a:solidFill>
                  <a:srgbClr val="8B8BA3"/>
                </a:solidFill>
              </a:rPr>
              <a:t>  validated accuracy on consensus signals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gut instinct with backtested signals.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0" y="731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6B6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90%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94360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8BA3"/>
                </a:solidFill>
              </a:rPr>
              <a:t>of retail crypto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B8BA3"/>
                </a:solidFill>
              </a:rPr>
              <a:t>traders lose money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4754880" cy="1005840"/>
          </a:xfrm>
          <a:prstGeom prst="rect">
            <a:avLst/>
          </a:prstGeom>
          <a:solidFill>
            <a:srgbClr val="1E1E36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325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 Feeling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00200" y="1554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Traders rely on intuition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FOMO-driven decisions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286000"/>
            <a:ext cx="4754880" cy="1005840"/>
          </a:xfrm>
          <a:prstGeom prst="rect">
            <a:avLst/>
          </a:prstGeom>
          <a:solidFill>
            <a:srgbClr val="1E1E3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5146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Alpha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600200" y="2743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influencers with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 record or backtests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3474720"/>
            <a:ext cx="4754880" cy="1005840"/>
          </a:xfrm>
          <a:prstGeom prst="rect">
            <a:avLst/>
          </a:prstGeom>
          <a:solidFill>
            <a:srgbClr val="1E1E36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033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Indicators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600200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 alone, MACD alone—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multi-signal approach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731520" y="4389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tools show data.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don’t tell you what to do.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4-Signal Ensemble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8B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Backtested weights on 2 years of daily BTC (Apr 2023 – Apr 2025)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3840480" cy="128016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371600"/>
            <a:ext cx="54864" cy="1280160"/>
          </a:xfrm>
          <a:prstGeom prst="rect">
            <a:avLst/>
          </a:prstGeom>
          <a:solidFill>
            <a:srgbClr val="FFE66D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69164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Technical</a:t>
            </a:r>
            <a:r>
              <a:rPr lang="en-US" sz="2000" b="1" dirty="0">
                <a:solidFill>
                  <a:srgbClr val="FFE66D"/>
                </a:solidFill>
              </a:rPr>
              <a:t>  40%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45920" y="1965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RSI mean-reversion at extremes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MACD trend direction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371600"/>
            <a:ext cx="3840480" cy="128016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11" name="Shape 8"/>
          <p:cNvSpPr/>
          <p:nvPr/>
        </p:nvSpPr>
        <p:spPr>
          <a:xfrm>
            <a:off x="4754880" y="1371600"/>
            <a:ext cx="54864" cy="1280160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916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6928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TCN Model</a:t>
            </a:r>
            <a:r>
              <a:rPr lang="en-US" sz="2000" b="1" dirty="0">
                <a:solidFill>
                  <a:srgbClr val="00D4AA"/>
                </a:solidFill>
              </a:rPr>
              <a:t>  30%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669280" y="1965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Temporal Convolutional Network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3 years of BTC training data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31520" y="2926080"/>
            <a:ext cx="3840480" cy="128016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16" name="Shape 12"/>
          <p:cNvSpPr/>
          <p:nvPr/>
        </p:nvSpPr>
        <p:spPr>
          <a:xfrm>
            <a:off x="731520" y="2926080"/>
            <a:ext cx="54864" cy="1280160"/>
          </a:xfrm>
          <a:prstGeom prst="rect">
            <a:avLst/>
          </a:prstGeom>
          <a:solidFill>
            <a:srgbClr val="A29BFE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24612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Order Flow</a:t>
            </a:r>
            <a:r>
              <a:rPr lang="en-US" sz="2000" b="1" dirty="0">
                <a:solidFill>
                  <a:srgbClr val="A29BFE"/>
                </a:solidFill>
              </a:rPr>
              <a:t>  20%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64592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Polymarket buy/sell pressure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True Markets order history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754880" y="2926080"/>
            <a:ext cx="3840480" cy="128016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21" name="Shape 16"/>
          <p:cNvSpPr/>
          <p:nvPr/>
        </p:nvSpPr>
        <p:spPr>
          <a:xfrm>
            <a:off x="4754880" y="2926080"/>
            <a:ext cx="54864" cy="1280160"/>
          </a:xfrm>
          <a:prstGeom prst="rect">
            <a:avLst/>
          </a:prstGeom>
          <a:solidFill>
            <a:srgbClr val="4ECDC4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246120"/>
            <a:ext cx="502920" cy="5029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69280" y="3063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Sentiment</a:t>
            </a:r>
            <a:r>
              <a:rPr lang="en-US" sz="2000" b="1" dirty="0">
                <a:solidFill>
                  <a:srgbClr val="4ECDC4"/>
                </a:solidFill>
              </a:rPr>
              <a:t>  10%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66928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True Markets AI (30+ sources)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Fear &amp; Greed contrarian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731520" y="4480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 →  Weighted Blend  →  BUY / SELL / HOLD  +  Reasoning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E66D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Backtest Results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2560320" cy="146304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95%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Consensus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Accuracy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1097280"/>
            <a:ext cx="2560320" cy="146304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188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E66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51.1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Sharpe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Ratio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1097280"/>
            <a:ext cx="2560320" cy="146304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1887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A29B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8.06x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0080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Profit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B8BA3"/>
                </a:solidFill>
              </a:rPr>
              <a:t>Factor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2926080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Trained on 3 years of daily BTC (1,096 candles)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3429000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Walk-forward validated across 23 monthly folds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931920"/>
            <a:ext cx="109728" cy="109728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TCN model: 80%+ validated directional accuracy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2926080"/>
            <a:ext cx="109728" cy="109728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Multi-horizon consensus: 1h, 2h, 3h, 4h, 6h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0" y="3429000"/>
            <a:ext cx="109728" cy="109728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0" y="3337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Filters out 38% of noisy / ambiguous signals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0" y="3931920"/>
            <a:ext cx="109728" cy="109728"/>
          </a:xfrm>
          <a:prstGeom prst="ellipse">
            <a:avLst/>
          </a:prstGeom>
          <a:solidFill>
            <a:srgbClr val="FFE66D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8BA3"/>
                </a:solidFill>
              </a:rPr>
              <a:t>Separate threshold model for Polymarket comparison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4389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predicts when signals have high conviction — quality over quantity.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/>
        </p:spPr>
      </p:sp>
      <p:pic>
        <p:nvPicPr>
          <p:cNvPr id="3" name="Image 0" descr="/Users/saieshagupta/Desktop/claude/truemarkets-predictions/backend/backtest_results/yc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160"/>
            <a:ext cx="4572000" cy="2514600"/>
          </a:xfrm>
          <a:prstGeom prst="rect">
            <a:avLst/>
          </a:prstGeom>
        </p:spPr>
      </p:pic>
      <p:pic>
        <p:nvPicPr>
          <p:cNvPr id="4" name="Image 1" descr="/Users/saieshagupta/Desktop/claude/truemarkets-predictions/backend/backtest_results/yc_consens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37160"/>
            <a:ext cx="4389120" cy="2514600"/>
          </a:xfrm>
          <a:prstGeom prst="rect">
            <a:avLst/>
          </a:prstGeom>
        </p:spPr>
      </p:pic>
      <p:pic>
        <p:nvPicPr>
          <p:cNvPr id="5" name="Image 2" descr="/Users/saieshagupta/Desktop/claude/truemarkets-predictions/backend/backtest_results/yc_retur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2743200"/>
            <a:ext cx="4572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Product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0D4AA"/>
                </a:solidFill>
              </a:rPr>
              <a:t>Updating every 30 seconds</a:t>
            </a:r>
            <a:endParaRPr lang="en-US" sz="1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716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Real-time BTC price from True Markets API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0116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9933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Auto-refreshing TCN predictions every 30s</a:t>
            </a:r>
            <a:endParaRPr lang="en-US" sz="13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651760"/>
            <a:ext cx="320040" cy="3200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17320" y="26334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Polymarket mispricing detection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291840"/>
            <a:ext cx="320040" cy="32004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417320" y="3273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Clear BUY/SELL with signal-by-signal reasoning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303520" y="1188720"/>
            <a:ext cx="3474720" cy="256032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14" name="Text 8"/>
          <p:cNvSpPr/>
          <p:nvPr/>
        </p:nvSpPr>
        <p:spPr>
          <a:xfrm>
            <a:off x="5577840" y="1325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What’s Next</a:t>
            </a:r>
            <a:endParaRPr lang="en-US" sz="18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1920240"/>
            <a:ext cx="274320" cy="2743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126480" y="19019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</a:rPr>
              <a:t>Multi-coin (ETH, SOL configured)</a:t>
            </a:r>
            <a:endParaRPr lang="en-US" sz="12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2468880"/>
            <a:ext cx="274320" cy="27432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6126480" y="245059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</a:rPr>
              <a:t>Trading via True Markets Gateway</a:t>
            </a:r>
            <a:endParaRPr lang="en-US" sz="12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3017520"/>
            <a:ext cx="274320" cy="27432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126480" y="299923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8BA3"/>
                </a:solidFill>
              </a:rPr>
              <a:t>Mobile app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1E1E36"/>
          </a:solidFill>
          <a:ln/>
        </p:spPr>
      </p:sp>
      <p:sp>
        <p:nvSpPr>
          <p:cNvPr id="22" name="Text 13"/>
          <p:cNvSpPr/>
          <p:nvPr/>
        </p:nvSpPr>
        <p:spPr>
          <a:xfrm>
            <a:off x="73152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exclusively from True Markets API. Zero external dependencies.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731520" y="4800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6B80"/>
                </a:solidFill>
              </a:rPr>
              <a:t>truemarkets.co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294</Words>
  <Application>Microsoft Macintosh PowerPoint</Application>
  <PresentationFormat>On-screen Show (16:9)</PresentationFormat>
  <Paragraphs>69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True Markets - YC Pitch Deck</dc:title>
  <dc:subject>PptxGenJS Presentation</dc:subject>
  <dc:creator>True Markets</dc:creator>
  <cp:lastModifiedBy>Saiesha Gupta</cp:lastModifiedBy>
  <cp:revision>2</cp:revision>
  <dcterms:created xsi:type="dcterms:W3CDTF">2026-04-14T04:19:03Z</dcterms:created>
  <dcterms:modified xsi:type="dcterms:W3CDTF">2026-04-14T04:32:03Z</dcterms:modified>
</cp:coreProperties>
</file>