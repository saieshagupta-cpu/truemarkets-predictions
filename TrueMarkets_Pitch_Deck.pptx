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1"/>
    <p:restoredTop sz="94610"/>
  </p:normalViewPr>
  <p:slideViewPr>
    <p:cSldViewPr snapToGrid="0" snapToObjects="1">
      <p:cViewPr varScale="1">
        <p:scale>
          <a:sx n="120" d="100"/>
          <a:sy n="120" d="100"/>
        </p:scale>
        <p:origin x="200" y="7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26797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828800"/>
            <a:ext cx="73152" cy="109728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7373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True Markets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377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6C5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BTC Prediction Engine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3108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YC Application  |  April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7863840" cy="1005840"/>
          </a:xfrm>
          <a:prstGeom prst="roundRect">
            <a:avLst>
              <a:gd name="adj" fmla="val 9091"/>
            </a:avLst>
          </a:prstGeom>
          <a:solidFill>
            <a:srgbClr val="13131A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3258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Volatile Markets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691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BTC swings 5-10% in a day. Retail investors get wiped out.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377440"/>
            <a:ext cx="7863840" cy="1005840"/>
          </a:xfrm>
          <a:prstGeom prst="roundRect">
            <a:avLst>
              <a:gd name="adj" fmla="val 9091"/>
            </a:avLst>
          </a:prstGeom>
          <a:solidFill>
            <a:srgbClr val="13131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5146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Institutional Tools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2880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Hedge funds use on-chain analytics, ML models. Retail has nothing.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566160"/>
            <a:ext cx="7863840" cy="1005840"/>
          </a:xfrm>
          <a:prstGeom prst="roundRect">
            <a:avLst>
              <a:gd name="adj" fmla="val 9091"/>
            </a:avLst>
          </a:prstGeom>
          <a:solidFill>
            <a:srgbClr val="13131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7033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 Box Predictions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14400" y="4069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tools show a number with no reasoning. No transparency.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Our Solution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3749040" cy="1463040"/>
          </a:xfrm>
          <a:prstGeom prst="roundRect">
            <a:avLst>
              <a:gd name="adj" fmla="val 6250"/>
            </a:avLst>
          </a:prstGeom>
          <a:solidFill>
            <a:srgbClr val="13131A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3716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914400" y="1828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Signals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1031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Polymarket, Binance order flow, ML model, technicals, sentiment, F&amp;G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54880" y="1188720"/>
            <a:ext cx="3749040" cy="1463040"/>
          </a:xfrm>
          <a:prstGeom prst="roundRect">
            <a:avLst>
              <a:gd name="adj" fmla="val 6250"/>
            </a:avLst>
          </a:prstGeom>
          <a:solidFill>
            <a:srgbClr val="13131A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0" y="13716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67%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5029200" y="1828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Accuracy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0" y="21031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On-chain ML model, 359 out-of-sample test days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926080"/>
            <a:ext cx="3749040" cy="1463040"/>
          </a:xfrm>
          <a:prstGeom prst="roundRect">
            <a:avLst>
              <a:gd name="adj" fmla="val 6250"/>
            </a:avLst>
          </a:prstGeom>
          <a:solidFill>
            <a:srgbClr val="13131A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1089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30s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914400" y="3566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Refresh Rate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14400" y="38404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signal updates every 30 seconds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0" y="2926080"/>
            <a:ext cx="3749040" cy="1463040"/>
          </a:xfrm>
          <a:prstGeom prst="roundRect">
            <a:avLst>
              <a:gd name="adj" fmla="val 6250"/>
            </a:avLst>
          </a:prstGeom>
          <a:solidFill>
            <a:srgbClr val="13131A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0" y="31089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0D4A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5029200" y="3566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 Boxes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029200" y="38404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signal shows its reasoning under BUY/SELL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6 Signals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7863840" cy="365760"/>
          </a:xfrm>
          <a:prstGeom prst="roundRect">
            <a:avLst>
              <a:gd name="adj" fmla="val 12500"/>
            </a:avLst>
          </a:prstGeom>
          <a:solidFill>
            <a:srgbClr val="1E1E2E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1155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200400" y="111556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0" y="11155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22960" y="1645920"/>
            <a:ext cx="164592" cy="164592"/>
          </a:xfrm>
          <a:prstGeom prst="ellipse">
            <a:avLst/>
          </a:prstGeom>
          <a:solidFill>
            <a:srgbClr val="4DABF7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1554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Polymarket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200400" y="1554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0" y="15544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Gamma API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2148840"/>
            <a:ext cx="164592" cy="164592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20574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Flow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00400" y="20574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20574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Binance.US + Coinbase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" y="2651760"/>
            <a:ext cx="164592" cy="164592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16" name="Text 14"/>
          <p:cNvSpPr/>
          <p:nvPr/>
        </p:nvSpPr>
        <p:spPr>
          <a:xfrm>
            <a:off x="1143000" y="2560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Model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200400" y="2560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0" y="25603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BGeometrics on-chain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2960" y="3154680"/>
            <a:ext cx="164592" cy="164592"/>
          </a:xfrm>
          <a:prstGeom prst="ellipse">
            <a:avLst/>
          </a:prstGeom>
          <a:solidFill>
            <a:srgbClr val="FFD93D"/>
          </a:solidFill>
          <a:ln/>
        </p:spPr>
      </p:sp>
      <p:sp>
        <p:nvSpPr>
          <p:cNvPr id="20" name="Text 18"/>
          <p:cNvSpPr/>
          <p:nvPr/>
        </p:nvSpPr>
        <p:spPr>
          <a:xfrm>
            <a:off x="1143000" y="30632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200400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3063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TrueMarkets MCP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22960" y="3657600"/>
            <a:ext cx="164592" cy="164592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24" name="Text 22"/>
          <p:cNvSpPr/>
          <p:nvPr/>
        </p:nvSpPr>
        <p:spPr>
          <a:xfrm>
            <a:off x="1143000" y="35661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Sentiment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200400" y="35661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72000" y="35661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TrueMarkets MCP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22960" y="4160520"/>
            <a:ext cx="164592" cy="16459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28" name="Text 26"/>
          <p:cNvSpPr/>
          <p:nvPr/>
        </p:nvSpPr>
        <p:spPr>
          <a:xfrm>
            <a:off x="1143000" y="4069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Fear &amp; Greed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200400" y="40690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7200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alternative.me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Model Accuracy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67.4% on 359 out-of-sample days</a:t>
            </a:r>
            <a:endParaRPr lang="en-US" sz="1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97280"/>
            <a:ext cx="5029200" cy="2926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760720" y="1097280"/>
            <a:ext cx="3017520" cy="3474720"/>
          </a:xfrm>
          <a:prstGeom prst="roundRect">
            <a:avLst>
              <a:gd name="adj" fmla="val 3030"/>
            </a:avLst>
          </a:prstGeom>
          <a:solidFill>
            <a:srgbClr val="13131A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0" y="1188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C5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Metrics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943600" y="1554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315200" y="15544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67.4%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943600" y="1874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31520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67.2%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943600" y="2194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315200" y="21945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66.9%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943600" y="2514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 Score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315200" y="25146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67.0%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943600" y="28346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AUC-ROC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315200" y="28346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0.7365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943600" y="31546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MCC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315200" y="3154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0.348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943600" y="3474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Days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315200" y="34747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359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943600" y="37947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Days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315200" y="3794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1,435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Confusion Matrix</a:t>
            </a:r>
            <a:endParaRPr lang="en-US" sz="30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914400"/>
            <a:ext cx="4114800" cy="3291840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914400"/>
            <a:ext cx="411480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Top 10 Features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Rate-of-change features dominate — the key innovation</a:t>
            </a:r>
            <a:endParaRPr lang="en-US" sz="1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97280"/>
            <a:ext cx="6530517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All Models Tested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model configurations compared on OOS BTC direction prediction</a:t>
            </a:r>
            <a:endParaRPr lang="en-US" sz="13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005840"/>
            <a:ext cx="7830589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Where It Goes From Here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005840"/>
            <a:ext cx="3931920" cy="3840480"/>
          </a:xfrm>
          <a:prstGeom prst="roundRect">
            <a:avLst>
              <a:gd name="adj" fmla="val 2381"/>
            </a:avLst>
          </a:prstGeom>
          <a:solidFill>
            <a:srgbClr val="13131A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097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68680" y="1554480"/>
            <a:ext cx="137160" cy="137160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5087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Glassnode Pro (87 features)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43000" y="176479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Paper achieves 82.44% with full Glassnode data. We have 42 features from BGeometrics. More data = higher accuracy.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68680" y="2331720"/>
            <a:ext cx="137160" cy="137160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9" name="Text 7"/>
          <p:cNvSpPr/>
          <p:nvPr/>
        </p:nvSpPr>
        <p:spPr>
          <a:xfrm>
            <a:off x="1143000" y="2286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CNN-LSTM architecture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43000" y="254203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Omole &amp; Enke 2024 CNN-LSTM with 87 Glassnode features reached 82.44%. Our GradientBoosting at 67.4% is limited by data, not architecture.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8680" y="3108960"/>
            <a:ext cx="137160" cy="137160"/>
          </a:xfrm>
          <a:prstGeom prst="ellipse">
            <a:avLst/>
          </a:prstGeom>
          <a:solidFill>
            <a:srgbClr val="4DABF7"/>
          </a:solidFill>
          <a:ln/>
        </p:spPr>
      </p:sp>
      <p:sp>
        <p:nvSpPr>
          <p:cNvPr id="12" name="Text 10"/>
          <p:cNvSpPr/>
          <p:nvPr/>
        </p:nvSpPr>
        <p:spPr>
          <a:xfrm>
            <a:off x="1143000" y="306324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 to ETH, SOL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43000" y="33192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6-signal architecture per coin. B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68680" y="3886200"/>
            <a:ext cx="137160" cy="137160"/>
          </a:xfrm>
          <a:prstGeom prst="ellipse">
            <a:avLst/>
          </a:prstGeom>
          <a:solidFill>
            <a:srgbClr val="FFD93D"/>
          </a:solidFill>
          <a:ln/>
        </p:spPr>
      </p:sp>
      <p:sp>
        <p:nvSpPr>
          <p:cNvPr id="15" name="Text 13"/>
          <p:cNvSpPr/>
          <p:nvPr/>
        </p:nvSpPr>
        <p:spPr>
          <a:xfrm>
            <a:off x="1143000" y="38404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Hourly predictions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43000" y="409651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Currently daily. With Glassnode hourly data, can predict intraday moves for higher-frequency trading.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846320" y="1097280"/>
            <a:ext cx="3931920" cy="3840480"/>
          </a:xfrm>
          <a:prstGeom prst="roundRect">
            <a:avLst>
              <a:gd name="adj" fmla="val 2381"/>
            </a:avLst>
          </a:prstGeom>
          <a:solidFill>
            <a:srgbClr val="13131A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0" y="1097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D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 Gap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029200" y="155448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858000" y="15544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67.4%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0" y="17830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 features from BGeometrics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29200" y="2103120"/>
            <a:ext cx="3474720" cy="0"/>
          </a:xfrm>
          <a:prstGeom prst="line">
            <a:avLst/>
          </a:prstGeom>
          <a:noFill/>
          <a:ln w="12700">
            <a:solidFill>
              <a:srgbClr val="1E1E2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0" y="228600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0" y="228600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D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82.4%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029200" y="25146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 features from Glassnode Pro ($799/mo)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29200" y="2834640"/>
            <a:ext cx="3474720" cy="0"/>
          </a:xfrm>
          <a:prstGeom prst="line">
            <a:avLst/>
          </a:prstGeom>
          <a:noFill/>
          <a:ln w="12700">
            <a:solidFill>
              <a:srgbClr val="1E1E2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0" y="30175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What’s missing: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212080" y="329184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HODL waves (all 15 age bands vs our 13)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212080" y="352044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Realized cap HODL waves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212080" y="374904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Entity-adjusted dormancy flow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212080" y="397764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Stock-to-flow ratio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212080" y="420624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Difficulty ribbon compression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212080" y="443484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45 additional on-chain indicators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29200" y="465886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FFD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data is the single biggest lever to improve accuracy.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Tech Stack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7863840" cy="594360"/>
          </a:xfrm>
          <a:prstGeom prst="roundRect">
            <a:avLst>
              <a:gd name="adj" fmla="val 12308"/>
            </a:avLst>
          </a:prstGeom>
          <a:solidFill>
            <a:srgbClr val="13131A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097280"/>
            <a:ext cx="54864" cy="59436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143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39903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+ Python, scikit-learn, PyTorch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7863840" cy="594360"/>
          </a:xfrm>
          <a:prstGeom prst="roundRect">
            <a:avLst>
              <a:gd name="adj" fmla="val 12308"/>
            </a:avLst>
          </a:prstGeom>
          <a:solidFill>
            <a:srgbClr val="13131A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828800"/>
            <a:ext cx="54864" cy="594360"/>
          </a:xfrm>
          <a:prstGeom prst="rect">
            <a:avLst/>
          </a:prstGeom>
          <a:solidFill>
            <a:srgbClr val="4DABF7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05840" y="213055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14, React 18, TailwindCSS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2560320"/>
            <a:ext cx="7863840" cy="594360"/>
          </a:xfrm>
          <a:prstGeom prst="roundRect">
            <a:avLst>
              <a:gd name="adj" fmla="val 12308"/>
            </a:avLst>
          </a:prstGeom>
          <a:solidFill>
            <a:srgbClr val="13131A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2560320"/>
            <a:ext cx="54864" cy="59436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2606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05840" y="286207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BGeometrics Premium, Binance.US, Coinbase, Polymarket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291840"/>
            <a:ext cx="7863840" cy="594360"/>
          </a:xfrm>
          <a:prstGeom prst="roundRect">
            <a:avLst>
              <a:gd name="adj" fmla="val 12308"/>
            </a:avLst>
          </a:prstGeom>
          <a:solidFill>
            <a:srgbClr val="13131A"/>
          </a:solidFill>
          <a:ln/>
        </p:spPr>
      </p:sp>
      <p:sp>
        <p:nvSpPr>
          <p:cNvPr id="16" name="Shape 14"/>
          <p:cNvSpPr/>
          <p:nvPr/>
        </p:nvSpPr>
        <p:spPr>
          <a:xfrm>
            <a:off x="640080" y="3291840"/>
            <a:ext cx="54864" cy="594360"/>
          </a:xfrm>
          <a:prstGeom prst="rect">
            <a:avLst/>
          </a:prstGeom>
          <a:solidFill>
            <a:srgbClr val="FFD93D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337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05840" y="359359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TrueMarkets MCP (same source everywhere)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023360"/>
            <a:ext cx="7863840" cy="594360"/>
          </a:xfrm>
          <a:prstGeom prst="roundRect">
            <a:avLst>
              <a:gd name="adj" fmla="val 12308"/>
            </a:avLst>
          </a:prstGeom>
          <a:solidFill>
            <a:srgbClr val="13131A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" y="4023360"/>
            <a:ext cx="54864" cy="59436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069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Refresh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05840" y="4325112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171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seconds, all 6 signals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Product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3749040" cy="3474720"/>
          </a:xfrm>
          <a:prstGeom prst="roundRect">
            <a:avLst>
              <a:gd name="adj" fmla="val 2632"/>
            </a:avLst>
          </a:prstGeom>
          <a:solidFill>
            <a:srgbClr val="13131A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1887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Page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645920"/>
            <a:ext cx="33832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BTC price + chart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cap, volume, highs/lows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Fear &amp; Greed Index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Sentiment (30+ sources)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0" y="1097280"/>
            <a:ext cx="3931920" cy="3474720"/>
          </a:xfrm>
          <a:prstGeom prst="roundRect">
            <a:avLst>
              <a:gd name="adj" fmla="val 2632"/>
            </a:avLst>
          </a:prstGeom>
          <a:solidFill>
            <a:srgbClr val="13131A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0" y="11887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5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Prediction Page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937760" y="164592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 / SELL with 6-signal reasoning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Polymarket table (18 thresholds)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Binance order flow visualization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RSI, MACD, Bollinger live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+ order management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491</Words>
  <Application>Microsoft Macintosh PowerPoint</Application>
  <PresentationFormat>On-screen Show (16:9)</PresentationFormat>
  <Paragraphs>128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Arial Black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True Markets — AI-Powered BTC Prediction Engine</dc:title>
  <dc:subject>PptxGenJS Presentation</dc:subject>
  <dc:creator>True Markets</dc:creator>
  <cp:lastModifiedBy>Saiesha Gupta</cp:lastModifiedBy>
  <cp:revision>3</cp:revision>
  <dcterms:created xsi:type="dcterms:W3CDTF">2026-04-15T06:42:32Z</dcterms:created>
  <dcterms:modified xsi:type="dcterms:W3CDTF">2026-04-15T06:45:27Z</dcterms:modified>
</cp:coreProperties>
</file>