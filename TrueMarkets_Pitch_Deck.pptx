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F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828800"/>
            <a:ext cx="73152" cy="109728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7373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True Markets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6C5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BTC Prediction Engine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3108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YC Application  |  April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371600" cy="36576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371600"/>
            <a:ext cx="7863840" cy="1005840"/>
          </a:xfrm>
          <a:prstGeom prst="roundRect">
            <a:avLst>
              <a:gd name="adj" fmla="val 9091"/>
            </a:avLst>
          </a:prstGeom>
          <a:solidFill>
            <a:srgbClr val="13131A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508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Volatile Markets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1874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BTC swings 5-10% in a day. Retail investors get wiped out by emotional trading.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560320"/>
            <a:ext cx="7863840" cy="1005840"/>
          </a:xfrm>
          <a:prstGeom prst="roundRect">
            <a:avLst>
              <a:gd name="adj" fmla="val 9091"/>
            </a:avLst>
          </a:prstGeom>
          <a:solidFill>
            <a:srgbClr val="13131A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6974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Institutional Tools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063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Hedge funds use on-chain analytics, order flow, ML models. Retail has nothing comparable.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749040"/>
            <a:ext cx="7863840" cy="1005840"/>
          </a:xfrm>
          <a:prstGeom prst="roundRect">
            <a:avLst>
              <a:gd name="adj" fmla="val 9091"/>
            </a:avLst>
          </a:prstGeom>
          <a:solidFill>
            <a:srgbClr val="13131A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886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 Box Predictions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4251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tools show a number with no reasoning. Users can't verify or understand why.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Our Solution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371600" cy="36576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371600"/>
            <a:ext cx="3749040" cy="1463040"/>
          </a:xfrm>
          <a:prstGeom prst="roundRect">
            <a:avLst>
              <a:gd name="adj" fmla="val 6250"/>
            </a:avLst>
          </a:prstGeom>
          <a:solidFill>
            <a:srgbClr val="13131A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554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Signals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286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Polymarket, Binance order flow, ML model, technicals, sentiment, Fear &amp; Greed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371600"/>
            <a:ext cx="3749040" cy="1463040"/>
          </a:xfrm>
          <a:prstGeom prst="roundRect">
            <a:avLst>
              <a:gd name="adj" fmla="val 6250"/>
            </a:avLst>
          </a:prstGeom>
          <a:solidFill>
            <a:srgbClr val="13131A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1554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67%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5029200" y="2011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Accuracy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2286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On-chain ML model tested on 359 out-of-sample days (Apr 2025 - Apr 2026)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108960"/>
            <a:ext cx="3749040" cy="1463040"/>
          </a:xfrm>
          <a:prstGeom prst="roundRect">
            <a:avLst>
              <a:gd name="adj" fmla="val 6250"/>
            </a:avLst>
          </a:prstGeom>
          <a:solidFill>
            <a:srgbClr val="13131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2918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30s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914400" y="37490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Refresh Rate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14400" y="40233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signal updates every 30 seconds with real data from verified sources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3108960"/>
            <a:ext cx="3749040" cy="1463040"/>
          </a:xfrm>
          <a:prstGeom prst="roundRect">
            <a:avLst>
              <a:gd name="adj" fmla="val 6250"/>
            </a:avLst>
          </a:prstGeom>
          <a:solidFill>
            <a:srgbClr val="13131A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0" y="32918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5029200" y="37490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 Boxes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029200" y="40233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signal shows its reasoning. Users see WHY buy or sell, not just the answer.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6 Signals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371600" cy="36576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280160"/>
            <a:ext cx="7863840" cy="411480"/>
          </a:xfrm>
          <a:prstGeom prst="roundRect">
            <a:avLst>
              <a:gd name="adj" fmla="val 11111"/>
            </a:avLst>
          </a:prstGeom>
          <a:solidFill>
            <a:srgbClr val="1E1E2E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298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200400" y="129844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0" y="12984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498080" y="12984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" y="1874520"/>
            <a:ext cx="182880" cy="182880"/>
          </a:xfrm>
          <a:prstGeom prst="ellipse">
            <a:avLst/>
          </a:prstGeom>
          <a:solidFill>
            <a:srgbClr val="4DABF7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17830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Polymarket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00400" y="1783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0" y="1783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Gamma API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498080" y="1783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2377440"/>
            <a:ext cx="182880" cy="182880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15" name="Text 13"/>
          <p:cNvSpPr/>
          <p:nvPr/>
        </p:nvSpPr>
        <p:spPr>
          <a:xfrm>
            <a:off x="1143000" y="2286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Flow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00400" y="2286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Binance.US + Coinbase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498080" y="22860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" y="2880360"/>
            <a:ext cx="182880" cy="182880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20" name="Text 18"/>
          <p:cNvSpPr/>
          <p:nvPr/>
        </p:nvSpPr>
        <p:spPr>
          <a:xfrm>
            <a:off x="1143000" y="2788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Model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200400" y="2788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2788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BGeometrics on-chain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498080" y="2788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22960" y="3383280"/>
            <a:ext cx="182880" cy="182880"/>
          </a:xfrm>
          <a:prstGeom prst="ellipse">
            <a:avLst/>
          </a:prstGeom>
          <a:solidFill>
            <a:srgbClr val="FFD93D"/>
          </a:solidFill>
          <a:ln/>
        </p:spPr>
      </p:sp>
      <p:sp>
        <p:nvSpPr>
          <p:cNvPr id="25" name="Text 23"/>
          <p:cNvSpPr/>
          <p:nvPr/>
        </p:nvSpPr>
        <p:spPr>
          <a:xfrm>
            <a:off x="1143000" y="32918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200400" y="32918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72000" y="3291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TrueMarkets MCP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498080" y="32918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22960" y="3886200"/>
            <a:ext cx="182880" cy="18288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30" name="Text 28"/>
          <p:cNvSpPr/>
          <p:nvPr/>
        </p:nvSpPr>
        <p:spPr>
          <a:xfrm>
            <a:off x="1143000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Sentiment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0400" y="37947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572000" y="3794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TrueMarkets MCP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498080" y="3794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" y="4389120"/>
            <a:ext cx="182880" cy="182880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35" name="Text 33"/>
          <p:cNvSpPr/>
          <p:nvPr/>
        </p:nvSpPr>
        <p:spPr>
          <a:xfrm>
            <a:off x="1143000" y="4297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Fear &amp; Greed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3200400" y="42976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72000" y="4297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alternative.me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498080" y="42976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67.4% Accuracy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359 Out-of-Sample Days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4572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GradientBoosting + Boruta feature selection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216 features: 42 on-chain + 168 rate-of-change + 6 price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Data: 5 years daily from BGeometrics (27 endpoints)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Train: 1,435 days (May 2021 - Apr 2025)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Test: 359 days (Apr 2025 - Apr 2026)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03520" y="1371600"/>
            <a:ext cx="3383280" cy="3200400"/>
          </a:xfrm>
          <a:prstGeom prst="roundRect">
            <a:avLst>
              <a:gd name="adj" fmla="val 2857"/>
            </a:avLst>
          </a:prstGeom>
          <a:solidFill>
            <a:srgbClr val="13131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0" y="1463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5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0" y="18745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132320" y="18745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67.4%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0" y="22402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0" y="22402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67.2%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0" y="26060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132320" y="2606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66.9%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0" y="29718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 Score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132320" y="29718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67.0%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0" y="33375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AUC-ROC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132320" y="33375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0.7365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0" y="37033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MCC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132320" y="37033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0.348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0" y="3749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5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Confusion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0" y="402336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71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TN=123  FP=58  |  FN=59  TP=119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Innovation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C5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Rate-of-Change Features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7863840" cy="914400"/>
          </a:xfrm>
          <a:prstGeom prst="roundRect">
            <a:avLst>
              <a:gd name="adj" fmla="val 10000"/>
            </a:avLst>
          </a:prstGeom>
          <a:solidFill>
            <a:srgbClr val="13131A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55448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on-chain values (MVRV, NUPL) are weakly predictive. Their RATE OF CHANGE is the breakthrough.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51760"/>
            <a:ext cx="4572000" cy="320040"/>
          </a:xfrm>
          <a:prstGeom prst="roundRect">
            <a:avLst>
              <a:gd name="adj" fmla="val 14286"/>
            </a:avLst>
          </a:prstGeom>
          <a:solidFill>
            <a:srgbClr val="00D4AA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65176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0A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14.3%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0" y="265176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mvrv_ratio_chg1d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0" y="28163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1-day change in MVRV ratio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3108960"/>
            <a:ext cx="3325091" cy="320040"/>
          </a:xfrm>
          <a:prstGeom prst="roundRect">
            <a:avLst>
              <a:gd name="adj" fmla="val 14286"/>
            </a:avLst>
          </a:prstGeom>
          <a:solidFill>
            <a:srgbClr val="00D4AA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10896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0A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10.4%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239491" y="310896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hash_ribbons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239491" y="32735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 rate SMA30/SMA60 crossover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40080" y="3566160"/>
            <a:ext cx="1534657" cy="320040"/>
          </a:xfrm>
          <a:prstGeom prst="roundRect">
            <a:avLst>
              <a:gd name="adj" fmla="val 14286"/>
            </a:avLst>
          </a:prstGeom>
          <a:solidFill>
            <a:srgbClr val="00D4AA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56616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0A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4.8%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449057" y="356616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puell_multiple_chg1d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49057" y="37307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1-day change in Puell multiple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0080" y="4023360"/>
            <a:ext cx="1438741" cy="320040"/>
          </a:xfrm>
          <a:prstGeom prst="roundRect">
            <a:avLst>
              <a:gd name="adj" fmla="val 14286"/>
            </a:avLst>
          </a:prstGeom>
          <a:solidFill>
            <a:srgbClr val="00D4AA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02336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0A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4.5%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353141" y="402336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hodl_age_10y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353141" y="4187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Coins held 10+ years (deep holders)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40080" y="4480560"/>
            <a:ext cx="1182965" cy="320040"/>
          </a:xfrm>
          <a:prstGeom prst="roundRect">
            <a:avLst>
              <a:gd name="adj" fmla="val 14286"/>
            </a:avLst>
          </a:prstGeom>
          <a:solidFill>
            <a:srgbClr val="00D4AA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48056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0A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3.7%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097365" y="448056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avg_dormancy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097365" y="46451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coin dormancy (holding time)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Tech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371600" cy="36576"/>
          </a:xfrm>
          <a:prstGeom prst="rect">
            <a:avLst/>
          </a:prstGeom>
          <a:solidFill>
            <a:srgbClr val="4DABF7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280160"/>
            <a:ext cx="7863840" cy="594360"/>
          </a:xfrm>
          <a:prstGeom prst="roundRect">
            <a:avLst>
              <a:gd name="adj" fmla="val 12308"/>
            </a:avLst>
          </a:prstGeom>
          <a:solidFill>
            <a:srgbClr val="13131A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280160"/>
            <a:ext cx="54864" cy="59436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325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158191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+ Python, scikit-learn, PyTorch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011680"/>
            <a:ext cx="7863840" cy="594360"/>
          </a:xfrm>
          <a:prstGeom prst="roundRect">
            <a:avLst>
              <a:gd name="adj" fmla="val 12308"/>
            </a:avLst>
          </a:prstGeom>
          <a:solidFill>
            <a:srgbClr val="13131A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2011680"/>
            <a:ext cx="54864" cy="594360"/>
          </a:xfrm>
          <a:prstGeom prst="rect">
            <a:avLst/>
          </a:prstGeom>
          <a:solidFill>
            <a:srgbClr val="4DABF7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2057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05840" y="231343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14, React 18, TailwindCSS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743200"/>
            <a:ext cx="7863840" cy="594360"/>
          </a:xfrm>
          <a:prstGeom prst="roundRect">
            <a:avLst>
              <a:gd name="adj" fmla="val 12308"/>
            </a:avLst>
          </a:prstGeom>
          <a:solidFill>
            <a:srgbClr val="13131A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2743200"/>
            <a:ext cx="54864" cy="59436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05840" y="304495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BGeometrics Premium, Binance.US, Coinbase, Polymarket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474720"/>
            <a:ext cx="7863840" cy="594360"/>
          </a:xfrm>
          <a:prstGeom prst="roundRect">
            <a:avLst>
              <a:gd name="adj" fmla="val 12308"/>
            </a:avLst>
          </a:prstGeom>
          <a:solidFill>
            <a:srgbClr val="13131A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3474720"/>
            <a:ext cx="54864" cy="594360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05840" y="377647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TrueMarkets MCP (same source everywhere)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4206240"/>
            <a:ext cx="7863840" cy="594360"/>
          </a:xfrm>
          <a:prstGeom prst="roundRect">
            <a:avLst>
              <a:gd name="adj" fmla="val 12308"/>
            </a:avLst>
          </a:prstGeom>
          <a:solidFill>
            <a:srgbClr val="13131A"/>
          </a:solidFill>
          <a:ln/>
        </p:spPr>
      </p:sp>
      <p:sp>
        <p:nvSpPr>
          <p:cNvPr id="21" name="Shape 19"/>
          <p:cNvSpPr/>
          <p:nvPr/>
        </p:nvSpPr>
        <p:spPr>
          <a:xfrm>
            <a:off x="640080" y="4206240"/>
            <a:ext cx="54864" cy="59436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4251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Refresh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05840" y="450799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seconds, all 6 signals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Product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371600" cy="36576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280160"/>
            <a:ext cx="3749040" cy="3474720"/>
          </a:xfrm>
          <a:prstGeom prst="roundRect">
            <a:avLst>
              <a:gd name="adj" fmla="val 2632"/>
            </a:avLst>
          </a:prstGeom>
          <a:solidFill>
            <a:srgbClr val="13131A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Page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33832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BTC price + 24h chart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cap, volume, highs/lows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Fear &amp; Greed Index gauge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Performance: 7d, 30d, 1y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Sentiment from 30+ news sources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280160"/>
            <a:ext cx="3931920" cy="3474720"/>
          </a:xfrm>
          <a:prstGeom prst="roundRect">
            <a:avLst>
              <a:gd name="adj" fmla="val 2632"/>
            </a:avLst>
          </a:prstGeom>
          <a:solidFill>
            <a:srgbClr val="13131A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1371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C5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Prediction Page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937760" y="18288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/ SELL with 6-signal reasoning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Polymarket probability table (18 thresholds)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Binance order flow (buy vs sell volume)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RSI, MACD, Bollinger live indicators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+ order management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price source (TrueMarkets MCP) on both pages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Ask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371600" cy="36576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28016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3131A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$500K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$5M valuation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926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of Funds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3456432"/>
            <a:ext cx="164592" cy="164592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9" name="Text 7"/>
          <p:cNvSpPr/>
          <p:nvPr/>
        </p:nvSpPr>
        <p:spPr>
          <a:xfrm>
            <a:off x="1188720" y="3383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Glassnode Professional ($799/mo)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0" y="3383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 on-chain features, target 82%+ accuracy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3867912"/>
            <a:ext cx="164592" cy="164592"/>
          </a:xfrm>
          <a:prstGeom prst="ellipse">
            <a:avLst/>
          </a:prstGeom>
          <a:solidFill>
            <a:srgbClr val="4DABF7"/>
          </a:solidFill>
          <a:ln/>
        </p:spPr>
      </p:sp>
      <p:sp>
        <p:nvSpPr>
          <p:cNvPr id="12" name="Text 10"/>
          <p:cNvSpPr/>
          <p:nvPr/>
        </p:nvSpPr>
        <p:spPr>
          <a:xfrm>
            <a:off x="1188720" y="3794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 to ETH, SOL, top 10 coins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0" y="3794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6-signal architecture, per-coin models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2960" y="4279392"/>
            <a:ext cx="164592" cy="164592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15" name="Text 13"/>
          <p:cNvSpPr/>
          <p:nvPr/>
        </p:nvSpPr>
        <p:spPr>
          <a:xfrm>
            <a:off x="1188720" y="4206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 (React Native)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0" y="4206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notifications on signal changes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2960" y="4690872"/>
            <a:ext cx="164592" cy="164592"/>
          </a:xfrm>
          <a:prstGeom prst="ellipse">
            <a:avLst/>
          </a:prstGeom>
          <a:solidFill>
            <a:srgbClr val="FFD93D"/>
          </a:solidFill>
          <a:ln/>
        </p:spPr>
      </p:sp>
      <p:sp>
        <p:nvSpPr>
          <p:cNvPr id="18" name="Text 16"/>
          <p:cNvSpPr/>
          <p:nvPr/>
        </p:nvSpPr>
        <p:spPr>
          <a:xfrm>
            <a:off x="1188720" y="46177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Team: ML engineer + full-stack dev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0" y="46177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infrastructure, add more data sources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True Markets — AI-Powered BTC Prediction Engine</dc:title>
  <dc:subject>PptxGenJS Presentation</dc:subject>
  <dc:creator>True Markets</dc:creator>
  <cp:lastModifiedBy>True Markets</cp:lastModifiedBy>
  <cp:revision>1</cp:revision>
  <dcterms:created xsi:type="dcterms:W3CDTF">2026-04-15T06:26:23Z</dcterms:created>
  <dcterms:modified xsi:type="dcterms:W3CDTF">2026-04-15T06:26:23Z</dcterms:modified>
</cp:coreProperties>
</file>